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1" r:id="rId5"/>
    <p:sldId id="262" r:id="rId6"/>
    <p:sldId id="263" r:id="rId7"/>
    <p:sldId id="265" r:id="rId8"/>
    <p:sldId id="264" r:id="rId9"/>
    <p:sldId id="266" r:id="rId10"/>
    <p:sldId id="267" r:id="rId11"/>
    <p:sldId id="268" r:id="rId12"/>
    <p:sldId id="274" r:id="rId13"/>
    <p:sldId id="272" r:id="rId14"/>
    <p:sldId id="271" r:id="rId15"/>
    <p:sldId id="273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37"/>
    <p:restoredTop sz="96327"/>
  </p:normalViewPr>
  <p:slideViewPr>
    <p:cSldViewPr snapToGrid="0">
      <p:cViewPr varScale="1">
        <p:scale>
          <a:sx n="128" d="100"/>
          <a:sy n="128" d="100"/>
        </p:scale>
        <p:origin x="4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265D80-829E-DF4A-BA97-7E05C5679C15}" type="datetimeFigureOut">
              <a:rPr kumimoji="1" lang="zh-TW" altLang="en-US" smtClean="0"/>
              <a:t>2023/10/5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3E6D3-51B2-3441-8C6B-00ED997B506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00585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7321FA-6805-3E49-A709-5C7DDFC46C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0A1613F-78E4-CAB4-A782-328BD25902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1DB2D0-C84C-B00C-E64B-7101E1D11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73DE2-8F6F-1B49-AD15-F69B7C10654E}" type="datetime1">
              <a:rPr kumimoji="1" lang="zh-TW" altLang="en-US" smtClean="0"/>
              <a:t>2023/10/5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AA6DC79-59A4-E448-C04F-68388FD44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53D704-6656-B75E-77A0-49A773BE1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BC98-7186-5941-AE11-0296001297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89710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49C96C-0FE9-52DC-A135-309A02BA8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5BAF1D-B1BF-7E1F-4642-3E06B7E55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D6AF25B-CEF4-53AD-292A-E26F06EFB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366E-38FC-AC47-A750-D4F4F10AFB71}" type="datetime1">
              <a:rPr kumimoji="1" lang="zh-TW" altLang="en-US" smtClean="0"/>
              <a:t>2023/10/5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9D7062-D548-5317-506A-5A22C8273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107D372-03AD-40ED-8656-44C84F9C3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BC98-7186-5941-AE11-0296001297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33247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E5E3C2-E89E-A466-619B-6ACACD5D6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3556ED3-8147-A5B7-C1E8-9A9CF6641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55AB1D0-5FDF-D600-19F1-823B08739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99F37-6343-4847-9FD5-21460D217E5A}" type="datetime1">
              <a:rPr kumimoji="1" lang="zh-TW" altLang="en-US" smtClean="0"/>
              <a:t>2023/10/5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2FED2D7-210A-0BCB-680C-3BBEAFB0E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E1D99A6-4042-6CF0-A524-2BBFAE7EE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BC98-7186-5941-AE11-0296001297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96941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7D19A7-C3A1-ACF1-AFEB-27E72F38C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8F0801-BE7F-B1FC-F8B0-340D4CBBA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40C45F6-1A03-9D8D-AB89-DF1A7B7CD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3292381-84D7-14D7-0F81-98652EFFF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5CFB1-4EBF-8443-93DC-D85CB47301FA}" type="datetime1">
              <a:rPr kumimoji="1" lang="zh-TW" altLang="en-US" smtClean="0"/>
              <a:t>2023/10/5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773B2E9-08F8-A5E3-6816-199DA0930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8121179-B1B6-7A30-450B-B7A3C607B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BC98-7186-5941-AE11-0296001297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30949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943074-25F4-CAA2-91EE-C82CFF6CA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AE84EA2-0CB0-C7C2-0BD0-4C59AD616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F3FF851-BDC2-2824-EC96-E7AFBB5FA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0D187E3-5885-2E27-A7A1-1D1F825E9F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77D1E8D-13EB-3487-BFE0-335854BCA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648CB96-E448-94BC-16BD-F60536A68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AB31-4CF2-3540-83E6-38FD57205C60}" type="datetime1">
              <a:rPr kumimoji="1" lang="zh-TW" altLang="en-US" smtClean="0"/>
              <a:t>2023/10/5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06DCB54-B18E-C50F-5B2B-3BBA642AC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2500F72-DCEB-2AF5-8FAE-49319FC6A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BC98-7186-5941-AE11-0296001297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03159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86E2D3-FB80-7177-5F43-B209E2E91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6061783-8469-D765-E8D1-3FB6AA1D8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B81AE-01B6-C547-B938-93230F6100C1}" type="datetime1">
              <a:rPr kumimoji="1" lang="zh-TW" altLang="en-US" smtClean="0"/>
              <a:t>2023/10/5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88E973D-CD8C-8238-4E84-72E3AE9DA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3E53DC3-E3AB-E9C9-371A-D88D1308F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BC98-7186-5941-AE11-0296001297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63953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0C5902E-0C94-EF76-CC8A-6CAC20487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0BC09-0E27-144B-BDD0-CFCE2E2A118E}" type="datetime1">
              <a:rPr kumimoji="1" lang="zh-TW" altLang="en-US" smtClean="0"/>
              <a:t>2023/10/5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997679C-DFA1-19D2-9577-CC6CACC13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508DD3-742B-C9F4-6C7F-0AAD11C44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BC98-7186-5941-AE11-0296001297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04931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A181A1-CEC0-46B1-0266-1D26C0FA6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2795684-BBE0-B46C-D0F7-FE1CF7C74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F0A9166-8209-51A1-5BAD-D4502542B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49F05B2-0A75-6EBD-E088-509A65B75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FB1-F70F-7F4C-8FE1-D6D617011B4C}" type="datetime1">
              <a:rPr kumimoji="1" lang="zh-TW" altLang="en-US" smtClean="0"/>
              <a:t>2023/10/5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3F9B3E3-5057-5C34-A27B-569B24B78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6818060-18F6-68D7-A685-B098D5317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BC98-7186-5941-AE11-0296001297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27502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739E09-55A9-A6F4-6E21-D6EF1D41B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39FC0F7-0091-7C37-53A7-51CBBE02FC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29DDC1A-E9A8-A068-44B1-F9BDD672E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BDF7F75-656B-72EF-B74E-6CBFDCD85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23524-AF53-D049-932B-CADEF3ED39C9}" type="datetime1">
              <a:rPr kumimoji="1" lang="zh-TW" altLang="en-US" smtClean="0"/>
              <a:t>2023/10/5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87EDA06-3935-8BE2-52DB-ABE912D01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DA75BF2-099D-BAB6-3434-3B75CCB8C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BC98-7186-5941-AE11-0296001297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69607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9065AC-79DF-D7B3-6E8F-EB2A4B091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1D8433C-C06C-93AF-6B56-F409EE826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E7FDAB0-95AB-7F8D-9AB7-EFCA9716C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617C4-91D0-2442-8BC1-A5AE7F42E226}" type="datetime1">
              <a:rPr kumimoji="1" lang="zh-TW" altLang="en-US" smtClean="0"/>
              <a:t>2023/10/5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8B3E141-FB3C-CAB9-94A5-BBE73F0C3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131D0F0-F3B8-3E81-8897-B340D70FA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BC98-7186-5941-AE11-0296001297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77302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D2A2919-C39E-4D03-D40A-9CA46A27C3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AEA854C-8CE2-9792-8BFF-51136C430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9CC312-4442-EE46-477E-D08E635BF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6D50-DBD6-4E42-934E-D087DCCC86AC}" type="datetime1">
              <a:rPr kumimoji="1" lang="zh-TW" altLang="en-US" smtClean="0"/>
              <a:t>2023/10/5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F650EF4-1E9A-30A0-B117-6A05A7380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B769C9A-7771-4B30-D9CE-DA64F4F7E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BC98-7186-5941-AE11-0296001297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09154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A5A4A36-777D-5709-0D84-F32BC5E21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02ED2AE-0569-C866-4D97-574DDB920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C47BD55-B280-B248-41C6-48CC6A7676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D79D3-2520-F443-9971-3E1544685648}" type="datetime1">
              <a:rPr kumimoji="1" lang="zh-TW" altLang="en-US" smtClean="0"/>
              <a:t>2023/10/5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7DFF181-82DA-741B-EE5E-A4F80EF110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DB88939-2C97-D480-6151-0CA2E1B9D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4BC98-7186-5941-AE11-0296001297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32538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28CE22E-AB0E-42DB-F8F6-8A3C50633264}"/>
              </a:ext>
            </a:extLst>
          </p:cNvPr>
          <p:cNvSpPr txBox="1"/>
          <p:nvPr/>
        </p:nvSpPr>
        <p:spPr>
          <a:xfrm>
            <a:off x="2130436" y="1938951"/>
            <a:ext cx="79311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dirty="0">
                <a:latin typeface="Arial" panose="020B0604020202020204" pitchFamily="34" charset="0"/>
                <a:cs typeface="Arial" panose="020B0604020202020204" pitchFamily="34" charset="0"/>
              </a:rPr>
              <a:t>Do overgrazing alter soil Microbial community? </a:t>
            </a:r>
          </a:p>
          <a:p>
            <a:pPr algn="ctr"/>
            <a:r>
              <a:rPr kumimoji="1" lang="en-US" altLang="zh-TW" sz="2800" dirty="0">
                <a:latin typeface="Arial" panose="020B0604020202020204" pitchFamily="34" charset="0"/>
                <a:cs typeface="Arial" panose="020B0604020202020204" pitchFamily="34" charset="0"/>
              </a:rPr>
              <a:t>A case study in Spain</a:t>
            </a:r>
            <a:endParaRPr kumimoji="1" lang="zh-TW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A9577EA-842D-D239-4CED-EA7EEC36F5E7}"/>
              </a:ext>
            </a:extLst>
          </p:cNvPr>
          <p:cNvSpPr txBox="1"/>
          <p:nvPr/>
        </p:nvSpPr>
        <p:spPr>
          <a:xfrm>
            <a:off x="5190142" y="4441995"/>
            <a:ext cx="18117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2400" dirty="0">
                <a:latin typeface="Arial" panose="020B0604020202020204" pitchFamily="34" charset="0"/>
                <a:cs typeface="Arial" panose="020B0604020202020204" pitchFamily="34" charset="0"/>
              </a:rPr>
              <a:t>Peter </a:t>
            </a:r>
            <a:r>
              <a:rPr kumimoji="1" lang="en-US" altLang="zh-TW" sz="2400" dirty="0" err="1">
                <a:latin typeface="Arial" panose="020B0604020202020204" pitchFamily="34" charset="0"/>
                <a:cs typeface="Arial" panose="020B0604020202020204" pitchFamily="34" charset="0"/>
              </a:rPr>
              <a:t>Chien</a:t>
            </a:r>
            <a:endParaRPr kumimoji="1" lang="en-US" altLang="zh-TW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kumimoji="1" lang="en-US" altLang="zh-TW" sz="2400" dirty="0">
                <a:latin typeface="Arial" panose="020B0604020202020204" pitchFamily="34" charset="0"/>
                <a:cs typeface="Arial" panose="020B0604020202020204" pitchFamily="34" charset="0"/>
              </a:rPr>
              <a:t>09/25/2023</a:t>
            </a:r>
            <a:endParaRPr kumimoji="1" lang="zh-TW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212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F175EDE-318B-9EF6-070D-1B1109858FD0}"/>
              </a:ext>
            </a:extLst>
          </p:cNvPr>
          <p:cNvSpPr txBox="1"/>
          <p:nvPr/>
        </p:nvSpPr>
        <p:spPr>
          <a:xfrm>
            <a:off x="396083" y="326042"/>
            <a:ext cx="63097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 for Sequencing - </a:t>
            </a:r>
            <a:r>
              <a:rPr kumimoji="1" lang="en-US" altLang="zh-TW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Mothur</a:t>
            </a:r>
            <a:endParaRPr kumimoji="1" lang="zh-TW" altLang="en-US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圖片 3" descr="一張含有 文字, 螢幕擷取畫面, 網頁, 網站 的圖片&#10;&#10;自動產生的描述">
            <a:extLst>
              <a:ext uri="{FF2B5EF4-FFF2-40B4-BE49-F238E27FC236}">
                <a16:creationId xmlns:a16="http://schemas.microsoft.com/office/drawing/2014/main" id="{FBF3969A-0B81-AA0D-54C0-2447F5E44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36" y="2138986"/>
            <a:ext cx="5572064" cy="3277057"/>
          </a:xfrm>
          <a:prstGeom prst="rect">
            <a:avLst/>
          </a:prstGeom>
        </p:spPr>
      </p:pic>
      <p:pic>
        <p:nvPicPr>
          <p:cNvPr id="6" name="圖片 5" descr="一張含有 文字, 螢幕擷取畫面, 軟體, 多媒體軟體 的圖片&#10;&#10;自動產生的描述">
            <a:extLst>
              <a:ext uri="{FF2B5EF4-FFF2-40B4-BE49-F238E27FC236}">
                <a16:creationId xmlns:a16="http://schemas.microsoft.com/office/drawing/2014/main" id="{A00C5AC5-B65D-2AA9-B4E7-F6ABAA40F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620" y="2263025"/>
            <a:ext cx="5146942" cy="3028978"/>
          </a:xfrm>
          <a:prstGeom prst="rect">
            <a:avLst/>
          </a:prstGeom>
        </p:spPr>
      </p:pic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0CEB6A2-B0EC-DF7F-242C-F83C2A1C3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BC98-7186-5941-AE11-0296001297DB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67542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7D16991-7E10-F1D4-B71D-8BDE845D3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BC98-7186-5941-AE11-0296001297DB}" type="slidenum">
              <a:rPr kumimoji="1" lang="zh-TW" altLang="en-US" smtClean="0"/>
              <a:t>3</a:t>
            </a:fld>
            <a:endParaRPr kumimoji="1"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A0252F9-27D5-7FD8-5387-D7A28F69C6F1}"/>
              </a:ext>
            </a:extLst>
          </p:cNvPr>
          <p:cNvSpPr txBox="1"/>
          <p:nvPr/>
        </p:nvSpPr>
        <p:spPr>
          <a:xfrm>
            <a:off x="396083" y="326042"/>
            <a:ext cx="4078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 Data Input</a:t>
            </a:r>
            <a:endParaRPr kumimoji="1" lang="zh-TW" altLang="en-US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C764AE2-79DA-D9F7-51A3-7F32C21A608C}"/>
              </a:ext>
            </a:extLst>
          </p:cNvPr>
          <p:cNvSpPr txBox="1"/>
          <p:nvPr/>
        </p:nvSpPr>
        <p:spPr>
          <a:xfrm>
            <a:off x="396083" y="909654"/>
            <a:ext cx="9171934" cy="11318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Arial" panose="020B0604020202020204" pitchFamily="34" charset="0"/>
                <a:cs typeface="Arial" panose="020B0604020202020204" pitchFamily="34" charset="0"/>
              </a:rPr>
              <a:t>RDP recent database for bacteria and archaea hierarchy model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Arial" panose="020B0604020202020204" pitchFamily="34" charset="0"/>
                <a:cs typeface="Arial" panose="020B0604020202020204" pitchFamily="34" charset="0"/>
              </a:rPr>
              <a:t>SILVA data for sequence alignment</a:t>
            </a:r>
          </a:p>
        </p:txBody>
      </p:sp>
      <p:pic>
        <p:nvPicPr>
          <p:cNvPr id="6" name="圖片 5" descr="一張含有 文字, 螢幕擷取畫面, 軟體, 網站 的圖片&#10;&#10;自動產生的描述">
            <a:extLst>
              <a:ext uri="{FF2B5EF4-FFF2-40B4-BE49-F238E27FC236}">
                <a16:creationId xmlns:a16="http://schemas.microsoft.com/office/drawing/2014/main" id="{E01CD01B-7C22-C233-9725-5D7414A26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83" y="3172188"/>
            <a:ext cx="5674092" cy="3184162"/>
          </a:xfrm>
          <a:prstGeom prst="rect">
            <a:avLst/>
          </a:prstGeom>
        </p:spPr>
      </p:pic>
      <p:pic>
        <p:nvPicPr>
          <p:cNvPr id="8" name="圖片 7" descr="一張含有 文字, 螢幕擷取畫面, 網站, 網頁 的圖片&#10;&#10;自動產生的描述">
            <a:extLst>
              <a:ext uri="{FF2B5EF4-FFF2-40B4-BE49-F238E27FC236}">
                <a16:creationId xmlns:a16="http://schemas.microsoft.com/office/drawing/2014/main" id="{5FDCC6E1-B4C3-7526-A716-AE303201D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794" y="3398546"/>
            <a:ext cx="5419025" cy="2637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020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7D16991-7E10-F1D4-B71D-8BDE845D3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BC98-7186-5941-AE11-0296001297DB}" type="slidenum">
              <a:rPr kumimoji="1" lang="zh-TW" altLang="en-US" smtClean="0"/>
              <a:t>4</a:t>
            </a:fld>
            <a:endParaRPr kumimoji="1"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A0252F9-27D5-7FD8-5387-D7A28F69C6F1}"/>
              </a:ext>
            </a:extLst>
          </p:cNvPr>
          <p:cNvSpPr txBox="1"/>
          <p:nvPr/>
        </p:nvSpPr>
        <p:spPr>
          <a:xfrm>
            <a:off x="396083" y="326042"/>
            <a:ext cx="39885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the Sequence…</a:t>
            </a:r>
            <a:endParaRPr kumimoji="1" lang="zh-TW" altLang="en-US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C764AE2-79DA-D9F7-51A3-7F32C21A608C}"/>
              </a:ext>
            </a:extLst>
          </p:cNvPr>
          <p:cNvSpPr txBox="1"/>
          <p:nvPr/>
        </p:nvSpPr>
        <p:spPr>
          <a:xfrm>
            <a:off x="396083" y="910817"/>
            <a:ext cx="9139682" cy="33478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Arial" panose="020B0604020202020204" pitchFamily="34" charset="0"/>
                <a:cs typeface="Arial" panose="020B0604020202020204" pitchFamily="34" charset="0"/>
              </a:rPr>
              <a:t>Setup output file, Pair forward and inverse data, Trim sequence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Arial" panose="020B0604020202020204" pitchFamily="34" charset="0"/>
                <a:cs typeface="Arial" panose="020B0604020202020204" pitchFamily="34" charset="0"/>
              </a:rPr>
              <a:t>Screen sequence, Unique sequence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Arial" panose="020B0604020202020204" pitchFamily="34" charset="0"/>
                <a:cs typeface="Arial" panose="020B0604020202020204" pitchFamily="34" charset="0"/>
              </a:rPr>
              <a:t>Align our sequences to the reference alignment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Arial" panose="020B0604020202020204" pitchFamily="34" charset="0"/>
                <a:cs typeface="Arial" panose="020B0604020202020204" pitchFamily="34" charset="0"/>
              </a:rPr>
              <a:t>Filter Sequence, Unique sequence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Arial" panose="020B0604020202020204" pitchFamily="34" charset="0"/>
                <a:cs typeface="Arial" panose="020B0604020202020204" pitchFamily="34" charset="0"/>
              </a:rPr>
              <a:t>Pre-cluster, Chimera-</a:t>
            </a:r>
            <a:r>
              <a:rPr kumimoji="1" lang="en-US" altLang="zh-TW" sz="2400" dirty="0" err="1">
                <a:latin typeface="Arial" panose="020B0604020202020204" pitchFamily="34" charset="0"/>
                <a:cs typeface="Arial" panose="020B0604020202020204" pitchFamily="34" charset="0"/>
              </a:rPr>
              <a:t>vsearch</a:t>
            </a:r>
            <a:r>
              <a:rPr kumimoji="1" lang="en-US" altLang="zh-TW" sz="2400" dirty="0">
                <a:latin typeface="Arial" panose="020B0604020202020204" pitchFamily="34" charset="0"/>
                <a:cs typeface="Arial" panose="020B0604020202020204" pitchFamily="34" charset="0"/>
              </a:rPr>
              <a:t>, Classify, Remove lineage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Arial" panose="020B0604020202020204" pitchFamily="34" charset="0"/>
                <a:cs typeface="Arial" panose="020B0604020202020204" pitchFamily="34" charset="0"/>
              </a:rPr>
              <a:t>Organize Data, Perform some analyses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0DCF7D4-0EA0-1837-C9FB-E15FB4A240CF}"/>
              </a:ext>
            </a:extLst>
          </p:cNvPr>
          <p:cNvSpPr txBox="1"/>
          <p:nvPr/>
        </p:nvSpPr>
        <p:spPr>
          <a:xfrm>
            <a:off x="7404059" y="5624017"/>
            <a:ext cx="42634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rgbClr val="0070C0"/>
                </a:solidFill>
              </a:rPr>
              <a:t>Let me know if you want me to exemplify… </a:t>
            </a:r>
          </a:p>
          <a:p>
            <a:r>
              <a:rPr kumimoji="1" lang="en-US" altLang="zh-TW" dirty="0">
                <a:solidFill>
                  <a:srgbClr val="0070C0"/>
                </a:solidFill>
              </a:rPr>
              <a:t>we will move to my other laptop</a:t>
            </a:r>
            <a:endParaRPr kumimoji="1" lang="zh-TW" altLang="en-US" dirty="0">
              <a:solidFill>
                <a:srgbClr val="0070C0"/>
              </a:solidFill>
            </a:endParaRPr>
          </a:p>
        </p:txBody>
      </p:sp>
      <p:pic>
        <p:nvPicPr>
          <p:cNvPr id="9" name="圖片 8" descr="一張含有 文字, 螢幕擷取畫面, 軟體, 多媒體軟體 的圖片&#10;&#10;自動產生的描述">
            <a:extLst>
              <a:ext uri="{FF2B5EF4-FFF2-40B4-BE49-F238E27FC236}">
                <a16:creationId xmlns:a16="http://schemas.microsoft.com/office/drawing/2014/main" id="{CD357F60-94AD-97F5-9CD3-7E3AAEC1F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7752" y="4537765"/>
            <a:ext cx="3082190" cy="1813053"/>
          </a:xfrm>
          <a:prstGeom prst="rect">
            <a:avLst/>
          </a:prstGeom>
        </p:spPr>
      </p:pic>
      <p:pic>
        <p:nvPicPr>
          <p:cNvPr id="11" name="圖片 10" descr="一張含有 文字, 螢幕擷取畫面, 軟體, 多媒體軟體 的圖片&#10;&#10;自動產生的描述">
            <a:extLst>
              <a:ext uri="{FF2B5EF4-FFF2-40B4-BE49-F238E27FC236}">
                <a16:creationId xmlns:a16="http://schemas.microsoft.com/office/drawing/2014/main" id="{515FA790-6F6F-65EE-E934-88BEF4E14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63" y="4548829"/>
            <a:ext cx="3082190" cy="1807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642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7D16991-7E10-F1D4-B71D-8BDE845D3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BC98-7186-5941-AE11-0296001297DB}" type="slidenum">
              <a:rPr kumimoji="1" lang="zh-TW" altLang="en-US" smtClean="0"/>
              <a:t>5</a:t>
            </a:fld>
            <a:endParaRPr kumimoji="1"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A0252F9-27D5-7FD8-5387-D7A28F69C6F1}"/>
              </a:ext>
            </a:extLst>
          </p:cNvPr>
          <p:cNvSpPr txBox="1"/>
          <p:nvPr/>
        </p:nvSpPr>
        <p:spPr>
          <a:xfrm>
            <a:off x="396083" y="326042"/>
            <a:ext cx="10502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</a:t>
            </a:r>
            <a:endParaRPr kumimoji="1" lang="zh-TW" altLang="en-US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C764AE2-79DA-D9F7-51A3-7F32C21A608C}"/>
              </a:ext>
            </a:extLst>
          </p:cNvPr>
          <p:cNvSpPr txBox="1"/>
          <p:nvPr/>
        </p:nvSpPr>
        <p:spPr>
          <a:xfrm>
            <a:off x="396083" y="910817"/>
            <a:ext cx="10433882" cy="11318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Arial" panose="020B0604020202020204" pitchFamily="34" charset="0"/>
                <a:cs typeface="Arial" panose="020B0604020202020204" pitchFamily="34" charset="0"/>
              </a:rPr>
              <a:t>So far bacterial data only, for </a:t>
            </a:r>
            <a:r>
              <a:rPr kumimoji="1" lang="en-US" altLang="zh-TW" sz="2400" dirty="0" err="1">
                <a:latin typeface="Arial" panose="020B0604020202020204" pitchFamily="34" charset="0"/>
                <a:cs typeface="Arial" panose="020B0604020202020204" pitchFamily="34" charset="0"/>
              </a:rPr>
              <a:t>Muela</a:t>
            </a:r>
            <a:r>
              <a:rPr kumimoji="1" lang="en-US" altLang="zh-TW" sz="2400" dirty="0">
                <a:latin typeface="Arial" panose="020B0604020202020204" pitchFamily="34" charset="0"/>
                <a:cs typeface="Arial" panose="020B0604020202020204" pitchFamily="34" charset="0"/>
              </a:rPr>
              <a:t> and some forest locations in </a:t>
            </a:r>
            <a:r>
              <a:rPr kumimoji="1" lang="en-US" altLang="zh-TW" sz="2400" dirty="0" err="1">
                <a:latin typeface="Arial" panose="020B0604020202020204" pitchFamily="34" charset="0"/>
                <a:cs typeface="Arial" panose="020B0604020202020204" pitchFamily="34" charset="0"/>
              </a:rPr>
              <a:t>Quintos</a:t>
            </a:r>
            <a:endParaRPr kumimoji="1" lang="en-US" altLang="zh-TW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TW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949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7D16991-7E10-F1D4-B71D-8BDE845D3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BC98-7186-5941-AE11-0296001297DB}" type="slidenum">
              <a:rPr kumimoji="1" lang="zh-TW" altLang="en-US" smtClean="0"/>
              <a:t>6</a:t>
            </a:fld>
            <a:endParaRPr kumimoji="1"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A0252F9-27D5-7FD8-5387-D7A28F69C6F1}"/>
              </a:ext>
            </a:extLst>
          </p:cNvPr>
          <p:cNvSpPr txBox="1"/>
          <p:nvPr/>
        </p:nvSpPr>
        <p:spPr>
          <a:xfrm>
            <a:off x="396083" y="326042"/>
            <a:ext cx="46939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Phylogenic trees - </a:t>
            </a:r>
            <a:r>
              <a:rPr kumimoji="1" lang="en-US" altLang="zh-TW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Muela</a:t>
            </a:r>
            <a:endParaRPr kumimoji="1" lang="en-US" altLang="zh-TW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C764AE2-79DA-D9F7-51A3-7F32C21A608C}"/>
              </a:ext>
            </a:extLst>
          </p:cNvPr>
          <p:cNvSpPr txBox="1"/>
          <p:nvPr/>
        </p:nvSpPr>
        <p:spPr>
          <a:xfrm>
            <a:off x="396083" y="910817"/>
            <a:ext cx="11308237" cy="113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Arial" panose="020B0604020202020204" pitchFamily="34" charset="0"/>
                <a:cs typeface="Arial" panose="020B0604020202020204" pitchFamily="34" charset="0"/>
              </a:rPr>
              <a:t>Overall, samples from control and treatment groups are not separated from each other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1B4E735-00CB-041E-16A8-51DF76F6E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253" y="1929413"/>
            <a:ext cx="4452466" cy="1494724"/>
          </a:xfrm>
          <a:prstGeom prst="rect">
            <a:avLst/>
          </a:prstGeom>
        </p:spPr>
      </p:pic>
      <p:pic>
        <p:nvPicPr>
          <p:cNvPr id="10" name="圖片 9" descr="一張含有 圖表, 行 的圖片&#10;&#10;自動產生的描述">
            <a:extLst>
              <a:ext uri="{FF2B5EF4-FFF2-40B4-BE49-F238E27FC236}">
                <a16:creationId xmlns:a16="http://schemas.microsoft.com/office/drawing/2014/main" id="{FB175BCF-9080-CA6A-5840-6F51496B98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95" t="7416" r="24081" b="11770"/>
          <a:stretch/>
        </p:blipFill>
        <p:spPr>
          <a:xfrm>
            <a:off x="1592771" y="3535718"/>
            <a:ext cx="3467481" cy="2996240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4456FEDC-C005-E8E6-7BB5-ED5E1EC2744B}"/>
              </a:ext>
            </a:extLst>
          </p:cNvPr>
          <p:cNvSpPr txBox="1"/>
          <p:nvPr/>
        </p:nvSpPr>
        <p:spPr>
          <a:xfrm>
            <a:off x="3885486" y="3486872"/>
            <a:ext cx="11523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Treatment A</a:t>
            </a:r>
            <a:endParaRPr kumimoji="1" lang="zh-TW" alt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623BC94-7795-F1C6-4408-7598A8C0E5BD}"/>
              </a:ext>
            </a:extLst>
          </p:cNvPr>
          <p:cNvSpPr txBox="1"/>
          <p:nvPr/>
        </p:nvSpPr>
        <p:spPr>
          <a:xfrm>
            <a:off x="4482738" y="6036332"/>
            <a:ext cx="9217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latin typeface="Arial" panose="020B0604020202020204" pitchFamily="34" charset="0"/>
                <a:cs typeface="Arial" panose="020B0604020202020204" pitchFamily="34" charset="0"/>
              </a:rPr>
              <a:t>Control A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B56AB70-9283-11BE-2916-7D68BBB82561}"/>
              </a:ext>
            </a:extLst>
          </p:cNvPr>
          <p:cNvSpPr txBox="1"/>
          <p:nvPr/>
        </p:nvSpPr>
        <p:spPr>
          <a:xfrm>
            <a:off x="1592771" y="6190220"/>
            <a:ext cx="9217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latin typeface="Arial" panose="020B0604020202020204" pitchFamily="34" charset="0"/>
                <a:cs typeface="Arial" panose="020B0604020202020204" pitchFamily="34" charset="0"/>
              </a:rPr>
              <a:t>Control A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262120A-9E9F-5D77-8AB6-F98207E53B79}"/>
              </a:ext>
            </a:extLst>
          </p:cNvPr>
          <p:cNvSpPr txBox="1"/>
          <p:nvPr/>
        </p:nvSpPr>
        <p:spPr>
          <a:xfrm>
            <a:off x="787598" y="4586535"/>
            <a:ext cx="9217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latin typeface="Arial" panose="020B0604020202020204" pitchFamily="34" charset="0"/>
                <a:cs typeface="Arial" panose="020B0604020202020204" pitchFamily="34" charset="0"/>
              </a:rPr>
              <a:t>Control A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1AB076F-8DBE-6F1A-DDBB-9D5948DFDC5C}"/>
              </a:ext>
            </a:extLst>
          </p:cNvPr>
          <p:cNvSpPr txBox="1"/>
          <p:nvPr/>
        </p:nvSpPr>
        <p:spPr>
          <a:xfrm>
            <a:off x="893942" y="3988082"/>
            <a:ext cx="9217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latin typeface="Arial" panose="020B0604020202020204" pitchFamily="34" charset="0"/>
                <a:cs typeface="Arial" panose="020B0604020202020204" pitchFamily="34" charset="0"/>
              </a:rPr>
              <a:t>Control A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77992BF-6DD3-42A1-A3B3-82CDA2A278E3}"/>
              </a:ext>
            </a:extLst>
          </p:cNvPr>
          <p:cNvSpPr txBox="1"/>
          <p:nvPr/>
        </p:nvSpPr>
        <p:spPr>
          <a:xfrm>
            <a:off x="1592770" y="3630804"/>
            <a:ext cx="9217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latin typeface="Arial" panose="020B0604020202020204" pitchFamily="34" charset="0"/>
                <a:cs typeface="Arial" panose="020B0604020202020204" pitchFamily="34" charset="0"/>
              </a:rPr>
              <a:t>Control A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C32E4DB-090F-0E7F-AC7F-EB35DFB6CEC9}"/>
              </a:ext>
            </a:extLst>
          </p:cNvPr>
          <p:cNvSpPr txBox="1"/>
          <p:nvPr/>
        </p:nvSpPr>
        <p:spPr>
          <a:xfrm>
            <a:off x="4997879" y="4237282"/>
            <a:ext cx="9217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latin typeface="Arial" panose="020B0604020202020204" pitchFamily="34" charset="0"/>
                <a:cs typeface="Arial" panose="020B0604020202020204" pitchFamily="34" charset="0"/>
              </a:rPr>
              <a:t>Control A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1CD4845-5433-636A-63CD-5E11A90CB712}"/>
              </a:ext>
            </a:extLst>
          </p:cNvPr>
          <p:cNvSpPr txBox="1"/>
          <p:nvPr/>
        </p:nvSpPr>
        <p:spPr>
          <a:xfrm>
            <a:off x="4482738" y="3742213"/>
            <a:ext cx="11523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Treatment A</a:t>
            </a:r>
            <a:endParaRPr kumimoji="1" lang="zh-TW" alt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27CB6C86-26D5-7922-8395-2BBC8CEF40FE}"/>
              </a:ext>
            </a:extLst>
          </p:cNvPr>
          <p:cNvSpPr txBox="1"/>
          <p:nvPr/>
        </p:nvSpPr>
        <p:spPr>
          <a:xfrm>
            <a:off x="4943633" y="5531638"/>
            <a:ext cx="11523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Treatment A</a:t>
            </a:r>
            <a:endParaRPr kumimoji="1" lang="zh-TW" alt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590EF9B3-BB84-D800-3892-F68FD3F8DD53}"/>
              </a:ext>
            </a:extLst>
          </p:cNvPr>
          <p:cNvSpPr txBox="1"/>
          <p:nvPr/>
        </p:nvSpPr>
        <p:spPr>
          <a:xfrm>
            <a:off x="580107" y="5216359"/>
            <a:ext cx="11523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Treatment A</a:t>
            </a:r>
            <a:endParaRPr kumimoji="1" lang="zh-TW" alt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5199C7A1-3E1C-43D5-B7D9-215F47E1017D}"/>
              </a:ext>
            </a:extLst>
          </p:cNvPr>
          <p:cNvSpPr txBox="1"/>
          <p:nvPr/>
        </p:nvSpPr>
        <p:spPr>
          <a:xfrm>
            <a:off x="845835" y="5772614"/>
            <a:ext cx="11523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Treatment A</a:t>
            </a:r>
            <a:endParaRPr kumimoji="1" lang="zh-TW" alt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5779DEF-52D2-8227-803D-CD7D6AD9D237}"/>
              </a:ext>
            </a:extLst>
          </p:cNvPr>
          <p:cNvSpPr txBox="1"/>
          <p:nvPr/>
        </p:nvSpPr>
        <p:spPr>
          <a:xfrm>
            <a:off x="3619128" y="6390277"/>
            <a:ext cx="11523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Treatment A</a:t>
            </a:r>
            <a:endParaRPr kumimoji="1" lang="zh-TW" alt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圖片 24" descr="一張含有 行, 圖表, 文字 的圖片&#10;&#10;自動產生的描述">
            <a:extLst>
              <a:ext uri="{FF2B5EF4-FFF2-40B4-BE49-F238E27FC236}">
                <a16:creationId xmlns:a16="http://schemas.microsoft.com/office/drawing/2014/main" id="{9309BCA9-1CB1-4AE3-F754-39DEF38F6D8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268" t="10020" r="22633" b="11981"/>
          <a:stretch/>
        </p:blipFill>
        <p:spPr>
          <a:xfrm>
            <a:off x="6636670" y="2242668"/>
            <a:ext cx="4661388" cy="3683834"/>
          </a:xfrm>
          <a:prstGeom prst="rect">
            <a:avLst/>
          </a:prstGeom>
        </p:spPr>
      </p:pic>
      <p:sp>
        <p:nvSpPr>
          <p:cNvPr id="26" name="文字方塊 25">
            <a:extLst>
              <a:ext uri="{FF2B5EF4-FFF2-40B4-BE49-F238E27FC236}">
                <a16:creationId xmlns:a16="http://schemas.microsoft.com/office/drawing/2014/main" id="{5E22D9B5-9D88-B05B-5671-7C07DDB07BBB}"/>
              </a:ext>
            </a:extLst>
          </p:cNvPr>
          <p:cNvSpPr txBox="1"/>
          <p:nvPr/>
        </p:nvSpPr>
        <p:spPr>
          <a:xfrm>
            <a:off x="6096000" y="4518888"/>
            <a:ext cx="931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latin typeface="Arial" panose="020B0604020202020204" pitchFamily="34" charset="0"/>
                <a:cs typeface="Arial" panose="020B0604020202020204" pitchFamily="34" charset="0"/>
              </a:rPr>
              <a:t>Control B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A7929B1-3D18-37F2-3D0E-F63C555F9DE7}"/>
              </a:ext>
            </a:extLst>
          </p:cNvPr>
          <p:cNvSpPr txBox="1"/>
          <p:nvPr/>
        </p:nvSpPr>
        <p:spPr>
          <a:xfrm>
            <a:off x="6037299" y="3506138"/>
            <a:ext cx="931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latin typeface="Arial" panose="020B0604020202020204" pitchFamily="34" charset="0"/>
                <a:cs typeface="Arial" panose="020B0604020202020204" pitchFamily="34" charset="0"/>
              </a:rPr>
              <a:t>Control B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8D1C18DF-C5BE-2194-98E3-06FF88B2DC58}"/>
              </a:ext>
            </a:extLst>
          </p:cNvPr>
          <p:cNvSpPr txBox="1"/>
          <p:nvPr/>
        </p:nvSpPr>
        <p:spPr>
          <a:xfrm>
            <a:off x="6865294" y="2995105"/>
            <a:ext cx="931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latin typeface="Arial" panose="020B0604020202020204" pitchFamily="34" charset="0"/>
                <a:cs typeface="Arial" panose="020B0604020202020204" pitchFamily="34" charset="0"/>
              </a:rPr>
              <a:t>Control B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4A1BEB83-5BED-E1D3-C13C-5CB468ABF99F}"/>
              </a:ext>
            </a:extLst>
          </p:cNvPr>
          <p:cNvSpPr txBox="1"/>
          <p:nvPr/>
        </p:nvSpPr>
        <p:spPr>
          <a:xfrm>
            <a:off x="6369593" y="5040331"/>
            <a:ext cx="931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latin typeface="Arial" panose="020B0604020202020204" pitchFamily="34" charset="0"/>
                <a:cs typeface="Arial" panose="020B0604020202020204" pitchFamily="34" charset="0"/>
              </a:rPr>
              <a:t>Control B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416F4DB3-9BC0-7002-C730-142CDB6153A0}"/>
              </a:ext>
            </a:extLst>
          </p:cNvPr>
          <p:cNvSpPr txBox="1"/>
          <p:nvPr/>
        </p:nvSpPr>
        <p:spPr>
          <a:xfrm>
            <a:off x="7027665" y="5505509"/>
            <a:ext cx="931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latin typeface="Arial" panose="020B0604020202020204" pitchFamily="34" charset="0"/>
                <a:cs typeface="Arial" panose="020B0604020202020204" pitchFamily="34" charset="0"/>
              </a:rPr>
              <a:t>Control B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26AC596C-9490-476E-611E-41C29150F9ED}"/>
              </a:ext>
            </a:extLst>
          </p:cNvPr>
          <p:cNvSpPr txBox="1"/>
          <p:nvPr/>
        </p:nvSpPr>
        <p:spPr>
          <a:xfrm>
            <a:off x="11060849" y="3116360"/>
            <a:ext cx="931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latin typeface="Arial" panose="020B0604020202020204" pitchFamily="34" charset="0"/>
                <a:cs typeface="Arial" panose="020B0604020202020204" pitchFamily="34" charset="0"/>
              </a:rPr>
              <a:t>Control B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8D7F1180-4C88-6807-53B3-A0A082CC0DFA}"/>
              </a:ext>
            </a:extLst>
          </p:cNvPr>
          <p:cNvSpPr txBox="1"/>
          <p:nvPr/>
        </p:nvSpPr>
        <p:spPr>
          <a:xfrm>
            <a:off x="10517194" y="5358183"/>
            <a:ext cx="11622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Treatment B</a:t>
            </a:r>
            <a:endParaRPr kumimoji="1" lang="zh-TW" alt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124A2BCF-A97E-6EB7-2043-4EFA3F92934E}"/>
              </a:ext>
            </a:extLst>
          </p:cNvPr>
          <p:cNvSpPr txBox="1"/>
          <p:nvPr/>
        </p:nvSpPr>
        <p:spPr>
          <a:xfrm>
            <a:off x="8748247" y="5812144"/>
            <a:ext cx="1171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Treatment B</a:t>
            </a:r>
            <a:endParaRPr kumimoji="1" lang="zh-TW" alt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873426C6-1584-011B-5289-A081DC3CF1E9}"/>
              </a:ext>
            </a:extLst>
          </p:cNvPr>
          <p:cNvSpPr txBox="1"/>
          <p:nvPr/>
        </p:nvSpPr>
        <p:spPr>
          <a:xfrm>
            <a:off x="10507576" y="4932191"/>
            <a:ext cx="1171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Treatment B</a:t>
            </a:r>
            <a:endParaRPr kumimoji="1" lang="zh-TW" alt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D82DE8B4-ECA8-1B0F-1FF9-48A4A2C5FA3C}"/>
              </a:ext>
            </a:extLst>
          </p:cNvPr>
          <p:cNvSpPr txBox="1"/>
          <p:nvPr/>
        </p:nvSpPr>
        <p:spPr>
          <a:xfrm>
            <a:off x="10473427" y="2488914"/>
            <a:ext cx="1171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Treatment B</a:t>
            </a:r>
            <a:endParaRPr kumimoji="1" lang="zh-TW" alt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588AA04C-BA67-F9D8-5859-B89017E45889}"/>
              </a:ext>
            </a:extLst>
          </p:cNvPr>
          <p:cNvSpPr txBox="1"/>
          <p:nvPr/>
        </p:nvSpPr>
        <p:spPr>
          <a:xfrm>
            <a:off x="9706546" y="2211903"/>
            <a:ext cx="1171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Treatment B</a:t>
            </a:r>
            <a:endParaRPr kumimoji="1" lang="zh-TW" alt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FC59FAE0-79F4-C858-D6C5-4BD71A0A1E7B}"/>
              </a:ext>
            </a:extLst>
          </p:cNvPr>
          <p:cNvSpPr txBox="1"/>
          <p:nvPr/>
        </p:nvSpPr>
        <p:spPr>
          <a:xfrm>
            <a:off x="6828216" y="2290132"/>
            <a:ext cx="1171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Treatment B</a:t>
            </a:r>
            <a:endParaRPr kumimoji="1" lang="zh-TW" alt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326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7D16991-7E10-F1D4-B71D-8BDE845D3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BC98-7186-5941-AE11-0296001297DB}" type="slidenum">
              <a:rPr kumimoji="1" lang="zh-TW" altLang="en-US" smtClean="0"/>
              <a:t>7</a:t>
            </a:fld>
            <a:endParaRPr kumimoji="1"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A0252F9-27D5-7FD8-5387-D7A28F69C6F1}"/>
              </a:ext>
            </a:extLst>
          </p:cNvPr>
          <p:cNvSpPr txBox="1"/>
          <p:nvPr/>
        </p:nvSpPr>
        <p:spPr>
          <a:xfrm>
            <a:off x="396083" y="326042"/>
            <a:ext cx="63562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Phylogenic trees – </a:t>
            </a:r>
            <a:r>
              <a:rPr kumimoji="1" lang="en-US" altLang="zh-TW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Quintos</a:t>
            </a:r>
            <a:r>
              <a:rPr kumimoji="1" lang="en-US" altLang="zh-TW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Forest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C764AE2-79DA-D9F7-51A3-7F32C21A608C}"/>
              </a:ext>
            </a:extLst>
          </p:cNvPr>
          <p:cNvSpPr txBox="1"/>
          <p:nvPr/>
        </p:nvSpPr>
        <p:spPr>
          <a:xfrm>
            <a:off x="396083" y="910817"/>
            <a:ext cx="11308237" cy="113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Arial" panose="020B0604020202020204" pitchFamily="34" charset="0"/>
                <a:cs typeface="Arial" panose="020B0604020202020204" pitchFamily="34" charset="0"/>
              </a:rPr>
              <a:t>Overall, samples from control (Forest C) and treatment groups are not separated from each other</a:t>
            </a:r>
          </a:p>
        </p:txBody>
      </p:sp>
      <p:pic>
        <p:nvPicPr>
          <p:cNvPr id="7" name="圖片 6" descr="一張含有 行, 收據, 文字, 平行 的圖片&#10;&#10;自動產生的描述">
            <a:extLst>
              <a:ext uri="{FF2B5EF4-FFF2-40B4-BE49-F238E27FC236}">
                <a16:creationId xmlns:a16="http://schemas.microsoft.com/office/drawing/2014/main" id="{37E044C0-F348-6FF5-2023-9960D0372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61" y="2837239"/>
            <a:ext cx="4918916" cy="2797031"/>
          </a:xfrm>
          <a:prstGeom prst="rect">
            <a:avLst/>
          </a:prstGeom>
        </p:spPr>
      </p:pic>
      <p:pic>
        <p:nvPicPr>
          <p:cNvPr id="9" name="圖片 8" descr="一張含有 圖表, 設計 的圖片&#10;&#10;自動產生的描述">
            <a:extLst>
              <a:ext uri="{FF2B5EF4-FFF2-40B4-BE49-F238E27FC236}">
                <a16:creationId xmlns:a16="http://schemas.microsoft.com/office/drawing/2014/main" id="{93C398CF-E4B3-2D38-8BCB-8EBFB99505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143" t="10678" r="24835" b="11197"/>
          <a:stretch/>
        </p:blipFill>
        <p:spPr>
          <a:xfrm>
            <a:off x="6311804" y="2072152"/>
            <a:ext cx="4722365" cy="3956541"/>
          </a:xfrm>
          <a:prstGeom prst="rect">
            <a:avLst/>
          </a:prstGeom>
        </p:spPr>
      </p:pic>
      <p:sp>
        <p:nvSpPr>
          <p:cNvPr id="26" name="文字方塊 25">
            <a:extLst>
              <a:ext uri="{FF2B5EF4-FFF2-40B4-BE49-F238E27FC236}">
                <a16:creationId xmlns:a16="http://schemas.microsoft.com/office/drawing/2014/main" id="{5E22D9B5-9D88-B05B-5671-7C07DDB07BBB}"/>
              </a:ext>
            </a:extLst>
          </p:cNvPr>
          <p:cNvSpPr txBox="1"/>
          <p:nvPr/>
        </p:nvSpPr>
        <p:spPr>
          <a:xfrm>
            <a:off x="9972261" y="5656314"/>
            <a:ext cx="8707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Forest C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A7929B1-3D18-37F2-3D0E-F63C555F9DE7}"/>
              </a:ext>
            </a:extLst>
          </p:cNvPr>
          <p:cNvSpPr txBox="1"/>
          <p:nvPr/>
        </p:nvSpPr>
        <p:spPr>
          <a:xfrm>
            <a:off x="9932505" y="2072152"/>
            <a:ext cx="8512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latin typeface="Arial" panose="020B0604020202020204" pitchFamily="34" charset="0"/>
                <a:cs typeface="Arial" panose="020B0604020202020204" pitchFamily="34" charset="0"/>
              </a:rPr>
              <a:t>Forest A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8D1C18DF-C5BE-2194-98E3-06FF88B2DC58}"/>
              </a:ext>
            </a:extLst>
          </p:cNvPr>
          <p:cNvSpPr txBox="1"/>
          <p:nvPr/>
        </p:nvSpPr>
        <p:spPr>
          <a:xfrm>
            <a:off x="6886961" y="5634270"/>
            <a:ext cx="861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Forest B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4DB8288-D816-0B76-D42D-4B6FAD65FF3D}"/>
              </a:ext>
            </a:extLst>
          </p:cNvPr>
          <p:cNvSpPr txBox="1"/>
          <p:nvPr/>
        </p:nvSpPr>
        <p:spPr>
          <a:xfrm>
            <a:off x="5982695" y="4925513"/>
            <a:ext cx="8512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latin typeface="Arial" panose="020B0604020202020204" pitchFamily="34" charset="0"/>
                <a:cs typeface="Arial" panose="020B0604020202020204" pitchFamily="34" charset="0"/>
              </a:rPr>
              <a:t>Forest A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521261D9-DC0F-6B2E-4BB9-CEF22A274797}"/>
              </a:ext>
            </a:extLst>
          </p:cNvPr>
          <p:cNvSpPr txBox="1"/>
          <p:nvPr/>
        </p:nvSpPr>
        <p:spPr>
          <a:xfrm>
            <a:off x="5660431" y="3822333"/>
            <a:ext cx="8512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latin typeface="Arial" panose="020B0604020202020204" pitchFamily="34" charset="0"/>
                <a:cs typeface="Arial" panose="020B0604020202020204" pitchFamily="34" charset="0"/>
              </a:rPr>
              <a:t>Forest A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A31E4F4D-47AC-BC7B-E3A4-550FD3DE11C8}"/>
              </a:ext>
            </a:extLst>
          </p:cNvPr>
          <p:cNvSpPr txBox="1"/>
          <p:nvPr/>
        </p:nvSpPr>
        <p:spPr>
          <a:xfrm>
            <a:off x="10893416" y="4970072"/>
            <a:ext cx="861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Forest B</a:t>
            </a: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2918B555-B9B3-1899-692D-48B8F511B680}"/>
              </a:ext>
            </a:extLst>
          </p:cNvPr>
          <p:cNvSpPr txBox="1"/>
          <p:nvPr/>
        </p:nvSpPr>
        <p:spPr>
          <a:xfrm>
            <a:off x="5982695" y="2747436"/>
            <a:ext cx="861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Forest B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9FF2559E-5800-FBD1-025E-06102B5D5150}"/>
              </a:ext>
            </a:extLst>
          </p:cNvPr>
          <p:cNvSpPr txBox="1"/>
          <p:nvPr/>
        </p:nvSpPr>
        <p:spPr>
          <a:xfrm>
            <a:off x="6860810" y="2012730"/>
            <a:ext cx="8707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Forest C</a:t>
            </a: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8F253ED2-92C0-8140-3C98-D674F3ED448D}"/>
              </a:ext>
            </a:extLst>
          </p:cNvPr>
          <p:cNvSpPr txBox="1"/>
          <p:nvPr/>
        </p:nvSpPr>
        <p:spPr>
          <a:xfrm>
            <a:off x="10814791" y="2753478"/>
            <a:ext cx="8707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Forest C</a:t>
            </a:r>
          </a:p>
        </p:txBody>
      </p:sp>
    </p:spTree>
    <p:extLst>
      <p:ext uri="{BB962C8B-B14F-4D97-AF65-F5344CB8AC3E}">
        <p14:creationId xmlns:p14="http://schemas.microsoft.com/office/powerpoint/2010/main" val="3397947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7D16991-7E10-F1D4-B71D-8BDE845D3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BC98-7186-5941-AE11-0296001297DB}" type="slidenum">
              <a:rPr kumimoji="1" lang="zh-TW" altLang="en-US" smtClean="0"/>
              <a:t>8</a:t>
            </a:fld>
            <a:endParaRPr kumimoji="1"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A0252F9-27D5-7FD8-5387-D7A28F69C6F1}"/>
              </a:ext>
            </a:extLst>
          </p:cNvPr>
          <p:cNvSpPr txBox="1"/>
          <p:nvPr/>
        </p:nvSpPr>
        <p:spPr>
          <a:xfrm>
            <a:off x="396083" y="326042"/>
            <a:ext cx="35782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Pcoa</a:t>
            </a:r>
            <a:r>
              <a:rPr kumimoji="1" lang="en-US" altLang="zh-TW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plots - </a:t>
            </a:r>
            <a:r>
              <a:rPr kumimoji="1" lang="en-US" altLang="zh-TW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Muela</a:t>
            </a:r>
            <a:endParaRPr kumimoji="1" lang="en-US" altLang="zh-TW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C764AE2-79DA-D9F7-51A3-7F32C21A608C}"/>
              </a:ext>
            </a:extLst>
          </p:cNvPr>
          <p:cNvSpPr txBox="1"/>
          <p:nvPr/>
        </p:nvSpPr>
        <p:spPr>
          <a:xfrm>
            <a:off x="396083" y="910817"/>
            <a:ext cx="11308237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Arial" panose="020B0604020202020204" pitchFamily="34" charset="0"/>
                <a:cs typeface="Arial" panose="020B0604020202020204" pitchFamily="34" charset="0"/>
              </a:rPr>
              <a:t>Overall, it is hard to tell control and treatment samples are differentiated.</a:t>
            </a:r>
          </a:p>
        </p:txBody>
      </p:sp>
      <p:pic>
        <p:nvPicPr>
          <p:cNvPr id="9" name="圖片 8" descr="一張含有 行, 圖表, 繪圖, 圓形 的圖片&#10;&#10;自動產生的描述">
            <a:extLst>
              <a:ext uri="{FF2B5EF4-FFF2-40B4-BE49-F238E27FC236}">
                <a16:creationId xmlns:a16="http://schemas.microsoft.com/office/drawing/2014/main" id="{2D4ABCA9-536A-46AF-64A7-6DA0F6C21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2290" y="3037169"/>
            <a:ext cx="5799560" cy="3276375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8F4033DA-BEB4-81B8-182D-4F0CB4AF1DDC}"/>
              </a:ext>
            </a:extLst>
          </p:cNvPr>
          <p:cNvGrpSpPr/>
          <p:nvPr/>
        </p:nvGrpSpPr>
        <p:grpSpPr>
          <a:xfrm>
            <a:off x="367947" y="2812960"/>
            <a:ext cx="5915328" cy="3467533"/>
            <a:chOff x="396083" y="2812960"/>
            <a:chExt cx="5915328" cy="3467533"/>
          </a:xfrm>
        </p:grpSpPr>
        <p:pic>
          <p:nvPicPr>
            <p:cNvPr id="24" name="圖片 23" descr="一張含有 圖表, 行, 圓形, 繪圖 的圖片&#10;&#10;自動產生的描述">
              <a:extLst>
                <a:ext uri="{FF2B5EF4-FFF2-40B4-BE49-F238E27FC236}">
                  <a16:creationId xmlns:a16="http://schemas.microsoft.com/office/drawing/2014/main" id="{8EC2D028-730F-7B48-0663-38261DA1E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6083" y="3004118"/>
              <a:ext cx="4792869" cy="3276375"/>
            </a:xfrm>
            <a:prstGeom prst="rect">
              <a:avLst/>
            </a:prstGeom>
          </p:spPr>
        </p:pic>
        <p:pic>
          <p:nvPicPr>
            <p:cNvPr id="32" name="圖片 31" descr="一張含有 行, 圖表, 繪圖, 圓形 的圖片&#10;&#10;自動產生的描述">
              <a:extLst>
                <a:ext uri="{FF2B5EF4-FFF2-40B4-BE49-F238E27FC236}">
                  <a16:creationId xmlns:a16="http://schemas.microsoft.com/office/drawing/2014/main" id="{079281ED-2806-25AA-EBC5-BF3301F73F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768"/>
            <a:stretch/>
          </p:blipFill>
          <p:spPr>
            <a:xfrm>
              <a:off x="5188952" y="2812960"/>
              <a:ext cx="1122459" cy="3134223"/>
            </a:xfrm>
            <a:prstGeom prst="rect">
              <a:avLst/>
            </a:prstGeom>
          </p:spPr>
        </p:pic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4A3F8E0C-F5D7-4D0C-C9D4-C5BD680EE091}"/>
                </a:ext>
              </a:extLst>
            </p:cNvPr>
            <p:cNvSpPr/>
            <p:nvPr/>
          </p:nvSpPr>
          <p:spPr>
            <a:xfrm>
              <a:off x="5904060" y="4131736"/>
              <a:ext cx="175008" cy="173749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000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endParaRPr kumimoji="1" lang="zh-TW" alt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AE70F55D-5465-3326-F32F-928B74A09D6E}"/>
                </a:ext>
              </a:extLst>
            </p:cNvPr>
            <p:cNvSpPr/>
            <p:nvPr/>
          </p:nvSpPr>
          <p:spPr>
            <a:xfrm>
              <a:off x="6062104" y="4334933"/>
              <a:ext cx="175008" cy="173749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000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endParaRPr kumimoji="1" lang="zh-TW" alt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9020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7D16991-7E10-F1D4-B71D-8BDE845D3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BC98-7186-5941-AE11-0296001297DB}" type="slidenum">
              <a:rPr kumimoji="1" lang="zh-TW" altLang="en-US" smtClean="0"/>
              <a:t>9</a:t>
            </a:fld>
            <a:endParaRPr kumimoji="1"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A0252F9-27D5-7FD8-5387-D7A28F69C6F1}"/>
              </a:ext>
            </a:extLst>
          </p:cNvPr>
          <p:cNvSpPr txBox="1"/>
          <p:nvPr/>
        </p:nvSpPr>
        <p:spPr>
          <a:xfrm>
            <a:off x="396083" y="326042"/>
            <a:ext cx="52405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Pcoa</a:t>
            </a:r>
            <a:r>
              <a:rPr kumimoji="1" lang="en-US" altLang="zh-TW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plots – </a:t>
            </a:r>
            <a:r>
              <a:rPr kumimoji="1" lang="en-US" altLang="zh-TW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Quintos</a:t>
            </a:r>
            <a:r>
              <a:rPr kumimoji="1" lang="en-US" altLang="zh-TW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Forest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C764AE2-79DA-D9F7-51A3-7F32C21A608C}"/>
              </a:ext>
            </a:extLst>
          </p:cNvPr>
          <p:cNvSpPr txBox="1"/>
          <p:nvPr/>
        </p:nvSpPr>
        <p:spPr>
          <a:xfrm>
            <a:off x="396083" y="910817"/>
            <a:ext cx="11308237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Arial" panose="020B0604020202020204" pitchFamily="34" charset="0"/>
                <a:cs typeface="Arial" panose="020B0604020202020204" pitchFamily="34" charset="0"/>
              </a:rPr>
              <a:t>Overall, groups are more separated in forest settings.</a:t>
            </a:r>
          </a:p>
        </p:txBody>
      </p:sp>
      <p:pic>
        <p:nvPicPr>
          <p:cNvPr id="6" name="圖片 5" descr="一張含有 行, 圖表, 繪圖, 文字 的圖片&#10;&#10;自動產生的描述">
            <a:extLst>
              <a:ext uri="{FF2B5EF4-FFF2-40B4-BE49-F238E27FC236}">
                <a16:creationId xmlns:a16="http://schemas.microsoft.com/office/drawing/2014/main" id="{C5B968BE-CFBD-E847-8DAB-7308E72CF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196" y="2021112"/>
            <a:ext cx="7772009" cy="4390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412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7D16991-7E10-F1D4-B71D-8BDE845D3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BC98-7186-5941-AE11-0296001297DB}" type="slidenum">
              <a:rPr kumimoji="1" lang="zh-TW" altLang="en-US" smtClean="0"/>
              <a:t>10</a:t>
            </a:fld>
            <a:endParaRPr kumimoji="1"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A0252F9-27D5-7FD8-5387-D7A28F69C6F1}"/>
              </a:ext>
            </a:extLst>
          </p:cNvPr>
          <p:cNvSpPr txBox="1"/>
          <p:nvPr/>
        </p:nvSpPr>
        <p:spPr>
          <a:xfrm>
            <a:off x="396083" y="326042"/>
            <a:ext cx="43989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Alpha Diversity - </a:t>
            </a:r>
            <a:r>
              <a:rPr kumimoji="1" lang="en-US" altLang="zh-TW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Muela</a:t>
            </a:r>
            <a:endParaRPr kumimoji="1" lang="en-US" altLang="zh-TW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圖片 6" descr="一張含有 文字, 螢幕擷取畫面, 鮮豔, 行 的圖片&#10;&#10;自動產生的描述">
            <a:extLst>
              <a:ext uri="{FF2B5EF4-FFF2-40B4-BE49-F238E27FC236}">
                <a16:creationId xmlns:a16="http://schemas.microsoft.com/office/drawing/2014/main" id="{7FD0A0FA-1604-14AE-A180-32E98FE10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462" y="1385119"/>
            <a:ext cx="8685370" cy="497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75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7D16991-7E10-F1D4-B71D-8BDE845D3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BC98-7186-5941-AE11-0296001297DB}" type="slidenum">
              <a:rPr kumimoji="1" lang="zh-TW" altLang="en-US" smtClean="0"/>
              <a:t>11</a:t>
            </a:fld>
            <a:endParaRPr kumimoji="1"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A0252F9-27D5-7FD8-5387-D7A28F69C6F1}"/>
              </a:ext>
            </a:extLst>
          </p:cNvPr>
          <p:cNvSpPr txBox="1"/>
          <p:nvPr/>
        </p:nvSpPr>
        <p:spPr>
          <a:xfrm>
            <a:off x="396083" y="326042"/>
            <a:ext cx="60612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Alpha Diversity – </a:t>
            </a:r>
            <a:r>
              <a:rPr kumimoji="1" lang="en-US" altLang="zh-TW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Quintos</a:t>
            </a:r>
            <a:r>
              <a:rPr kumimoji="1" lang="en-US" altLang="zh-TW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Forest</a:t>
            </a:r>
          </a:p>
        </p:txBody>
      </p:sp>
      <p:pic>
        <p:nvPicPr>
          <p:cNvPr id="4" name="圖片 3" descr="一張含有 文字, 螢幕擷取畫面, 鮮豔, 行 的圖片&#10;&#10;自動產生的描述">
            <a:extLst>
              <a:ext uri="{FF2B5EF4-FFF2-40B4-BE49-F238E27FC236}">
                <a16:creationId xmlns:a16="http://schemas.microsoft.com/office/drawing/2014/main" id="{527D5443-F90B-3BEE-3902-AD98C045C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086" y="1532487"/>
            <a:ext cx="8427900" cy="482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209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7D16991-7E10-F1D4-B71D-8BDE845D3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BC98-7186-5941-AE11-0296001297DB}" type="slidenum">
              <a:rPr kumimoji="1" lang="zh-TW" altLang="en-US" smtClean="0"/>
              <a:t>12</a:t>
            </a:fld>
            <a:endParaRPr kumimoji="1"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A0252F9-27D5-7FD8-5387-D7A28F69C6F1}"/>
              </a:ext>
            </a:extLst>
          </p:cNvPr>
          <p:cNvSpPr txBox="1"/>
          <p:nvPr/>
        </p:nvSpPr>
        <p:spPr>
          <a:xfrm>
            <a:off x="396083" y="326042"/>
            <a:ext cx="87956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Alternative Figures in Alpha Diversity – </a:t>
            </a:r>
            <a:r>
              <a:rPr kumimoji="1" lang="en-US" altLang="zh-TW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Muela</a:t>
            </a:r>
            <a:r>
              <a:rPr kumimoji="1" lang="en-US" altLang="zh-TW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</a:t>
            </a:r>
          </a:p>
        </p:txBody>
      </p:sp>
      <p:pic>
        <p:nvPicPr>
          <p:cNvPr id="6" name="圖形 5">
            <a:extLst>
              <a:ext uri="{FF2B5EF4-FFF2-40B4-BE49-F238E27FC236}">
                <a16:creationId xmlns:a16="http://schemas.microsoft.com/office/drawing/2014/main" id="{F6830022-C867-98AE-3179-581F70D9BA7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488" r="-204"/>
          <a:stretch/>
        </p:blipFill>
        <p:spPr>
          <a:xfrm>
            <a:off x="500742" y="1012370"/>
            <a:ext cx="3505554" cy="2698239"/>
          </a:xfrm>
          <a:prstGeom prst="rect">
            <a:avLst/>
          </a:prstGeom>
        </p:spPr>
      </p:pic>
      <p:pic>
        <p:nvPicPr>
          <p:cNvPr id="8" name="圖形 7">
            <a:extLst>
              <a:ext uri="{FF2B5EF4-FFF2-40B4-BE49-F238E27FC236}">
                <a16:creationId xmlns:a16="http://schemas.microsoft.com/office/drawing/2014/main" id="{D69D8C73-EAA9-D22F-F758-E2CA09A7D7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83177" y="1012370"/>
            <a:ext cx="7772400" cy="512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958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7D16991-7E10-F1D4-B71D-8BDE845D3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BC98-7186-5941-AE11-0296001297DB}" type="slidenum">
              <a:rPr kumimoji="1" lang="zh-TW" altLang="en-US" smtClean="0"/>
              <a:t>13</a:t>
            </a:fld>
            <a:endParaRPr kumimoji="1"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A0252F9-27D5-7FD8-5387-D7A28F69C6F1}"/>
              </a:ext>
            </a:extLst>
          </p:cNvPr>
          <p:cNvSpPr txBox="1"/>
          <p:nvPr/>
        </p:nvSpPr>
        <p:spPr>
          <a:xfrm>
            <a:off x="396083" y="326042"/>
            <a:ext cx="43524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Inverse Simpson Index</a:t>
            </a:r>
          </a:p>
        </p:txBody>
      </p:sp>
      <p:pic>
        <p:nvPicPr>
          <p:cNvPr id="6" name="圖片 5" descr="一張含有 文字, 圖表, 螢幕擷取畫面, Rectangle 的圖片&#10;&#10;自動產生的描述">
            <a:extLst>
              <a:ext uri="{FF2B5EF4-FFF2-40B4-BE49-F238E27FC236}">
                <a16:creationId xmlns:a16="http://schemas.microsoft.com/office/drawing/2014/main" id="{87291B8E-13A7-EBFC-3E08-82EEC1B3D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46078"/>
            <a:ext cx="5798546" cy="3941199"/>
          </a:xfrm>
          <a:prstGeom prst="rect">
            <a:avLst/>
          </a:prstGeom>
        </p:spPr>
      </p:pic>
      <p:pic>
        <p:nvPicPr>
          <p:cNvPr id="8" name="圖片 7" descr="一張含有 文字, 螢幕擷取畫面, 圖表, Rectangle 的圖片&#10;&#10;自動產生的描述">
            <a:extLst>
              <a:ext uri="{FF2B5EF4-FFF2-40B4-BE49-F238E27FC236}">
                <a16:creationId xmlns:a16="http://schemas.microsoft.com/office/drawing/2014/main" id="{85606FC4-943E-F649-2207-481A394FA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55" y="2146079"/>
            <a:ext cx="5798545" cy="3941199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6137BD5D-4AF2-34C8-85ED-14C02E4074E5}"/>
              </a:ext>
            </a:extLst>
          </p:cNvPr>
          <p:cNvSpPr txBox="1"/>
          <p:nvPr/>
        </p:nvSpPr>
        <p:spPr>
          <a:xfrm>
            <a:off x="2858758" y="1629328"/>
            <a:ext cx="1024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400" dirty="0" err="1">
                <a:latin typeface="Arial" panose="020B0604020202020204" pitchFamily="34" charset="0"/>
                <a:cs typeface="Arial" panose="020B0604020202020204" pitchFamily="34" charset="0"/>
              </a:rPr>
              <a:t>Muela</a:t>
            </a:r>
            <a:endParaRPr kumimoji="1" lang="en-US" altLang="zh-TW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E41D24C-AA40-4555-1903-656133AF0939}"/>
              </a:ext>
            </a:extLst>
          </p:cNvPr>
          <p:cNvSpPr txBox="1"/>
          <p:nvPr/>
        </p:nvSpPr>
        <p:spPr>
          <a:xfrm>
            <a:off x="8610600" y="1629328"/>
            <a:ext cx="1245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400" dirty="0" err="1">
                <a:latin typeface="Arial" panose="020B0604020202020204" pitchFamily="34" charset="0"/>
                <a:cs typeface="Arial" panose="020B0604020202020204" pitchFamily="34" charset="0"/>
              </a:rPr>
              <a:t>Quintos</a:t>
            </a:r>
            <a:endParaRPr kumimoji="1" lang="en-US" altLang="zh-TW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942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7D16991-7E10-F1D4-B71D-8BDE845D3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BC98-7186-5941-AE11-0296001297DB}" type="slidenum">
              <a:rPr kumimoji="1" lang="zh-TW" altLang="en-US" smtClean="0"/>
              <a:t>14</a:t>
            </a:fld>
            <a:endParaRPr kumimoji="1"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A0252F9-27D5-7FD8-5387-D7A28F69C6F1}"/>
              </a:ext>
            </a:extLst>
          </p:cNvPr>
          <p:cNvSpPr txBox="1"/>
          <p:nvPr/>
        </p:nvSpPr>
        <p:spPr>
          <a:xfrm>
            <a:off x="396083" y="326042"/>
            <a:ext cx="5287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Beta Diversity – </a:t>
            </a:r>
            <a:r>
              <a:rPr kumimoji="1" lang="en-US" altLang="zh-TW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amova</a:t>
            </a:r>
            <a:r>
              <a:rPr kumimoji="1" lang="en-US" altLang="zh-TW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test</a:t>
            </a:r>
          </a:p>
        </p:txBody>
      </p:sp>
      <p:pic>
        <p:nvPicPr>
          <p:cNvPr id="6" name="圖片 5" descr="一張含有 文字, 螢幕擷取畫面, 軟體 的圖片&#10;&#10;自動產生的描述">
            <a:extLst>
              <a:ext uri="{FF2B5EF4-FFF2-40B4-BE49-F238E27FC236}">
                <a16:creationId xmlns:a16="http://schemas.microsoft.com/office/drawing/2014/main" id="{60AA1831-F836-B291-BAF4-C46B2740F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886" y="3487027"/>
            <a:ext cx="3618618" cy="1930477"/>
          </a:xfrm>
          <a:prstGeom prst="rect">
            <a:avLst/>
          </a:prstGeom>
        </p:spPr>
      </p:pic>
      <p:pic>
        <p:nvPicPr>
          <p:cNvPr id="8" name="圖片 7" descr="一張含有 文字, 螢幕擷取畫面, 軟體 的圖片&#10;&#10;自動產生的描述">
            <a:extLst>
              <a:ext uri="{FF2B5EF4-FFF2-40B4-BE49-F238E27FC236}">
                <a16:creationId xmlns:a16="http://schemas.microsoft.com/office/drawing/2014/main" id="{397AF5BE-0138-3499-5118-39BBB68FC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093" y="3487027"/>
            <a:ext cx="3626833" cy="1930477"/>
          </a:xfrm>
          <a:prstGeom prst="rect">
            <a:avLst/>
          </a:prstGeom>
        </p:spPr>
      </p:pic>
      <p:pic>
        <p:nvPicPr>
          <p:cNvPr id="10" name="圖片 9" descr="一張含有 文字, 螢幕擷取畫面, 軟體 的圖片&#10;&#10;自動產生的描述">
            <a:extLst>
              <a:ext uri="{FF2B5EF4-FFF2-40B4-BE49-F238E27FC236}">
                <a16:creationId xmlns:a16="http://schemas.microsoft.com/office/drawing/2014/main" id="{001FD9C6-4EE0-72BC-01C4-C1091954A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0515" y="3487027"/>
            <a:ext cx="3631429" cy="1930477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7471870E-DCC6-3A02-DF1B-46246F03E20B}"/>
              </a:ext>
            </a:extLst>
          </p:cNvPr>
          <p:cNvSpPr txBox="1"/>
          <p:nvPr/>
        </p:nvSpPr>
        <p:spPr>
          <a:xfrm>
            <a:off x="1175762" y="2511310"/>
            <a:ext cx="21451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2400" dirty="0" err="1">
                <a:latin typeface="Arial" panose="020B0604020202020204" pitchFamily="34" charset="0"/>
                <a:cs typeface="Arial" panose="020B0604020202020204" pitchFamily="34" charset="0"/>
              </a:rPr>
              <a:t>Muela</a:t>
            </a:r>
            <a:r>
              <a:rPr kumimoji="1" lang="en-US" altLang="zh-TW" sz="2400" dirty="0">
                <a:latin typeface="Arial" panose="020B0604020202020204" pitchFamily="34" charset="0"/>
                <a:cs typeface="Arial" panose="020B0604020202020204" pitchFamily="34" charset="0"/>
              </a:rPr>
              <a:t> A</a:t>
            </a:r>
          </a:p>
          <a:p>
            <a:pPr algn="ctr"/>
            <a:r>
              <a:rPr kumimoji="1" lang="en-US" altLang="zh-TW" sz="2400" dirty="0">
                <a:latin typeface="Arial" panose="020B0604020202020204" pitchFamily="34" charset="0"/>
                <a:cs typeface="Arial" panose="020B0604020202020204" pitchFamily="34" charset="0"/>
              </a:rPr>
              <a:t>p-value = 0.69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4964D9E-93BF-67CB-2FB1-6E6CE6707213}"/>
              </a:ext>
            </a:extLst>
          </p:cNvPr>
          <p:cNvSpPr txBox="1"/>
          <p:nvPr/>
        </p:nvSpPr>
        <p:spPr>
          <a:xfrm>
            <a:off x="5002286" y="2511310"/>
            <a:ext cx="21451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2400" dirty="0" err="1">
                <a:latin typeface="Arial" panose="020B0604020202020204" pitchFamily="34" charset="0"/>
                <a:cs typeface="Arial" panose="020B0604020202020204" pitchFamily="34" charset="0"/>
              </a:rPr>
              <a:t>Muela</a:t>
            </a:r>
            <a:r>
              <a:rPr kumimoji="1" lang="en-US" altLang="zh-TW" sz="2400" dirty="0">
                <a:latin typeface="Arial" panose="020B0604020202020204" pitchFamily="34" charset="0"/>
                <a:cs typeface="Arial" panose="020B0604020202020204" pitchFamily="34" charset="0"/>
              </a:rPr>
              <a:t> B</a:t>
            </a:r>
          </a:p>
          <a:p>
            <a:pPr algn="ctr"/>
            <a:r>
              <a:rPr kumimoji="1" lang="en-US" altLang="zh-TW" sz="2400" dirty="0">
                <a:latin typeface="Arial" panose="020B0604020202020204" pitchFamily="34" charset="0"/>
                <a:cs typeface="Arial" panose="020B0604020202020204" pitchFamily="34" charset="0"/>
              </a:rPr>
              <a:t>p-value = 0.65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0DDC550-2392-BCFE-767E-B2E24645CC6D}"/>
              </a:ext>
            </a:extLst>
          </p:cNvPr>
          <p:cNvSpPr txBox="1"/>
          <p:nvPr/>
        </p:nvSpPr>
        <p:spPr>
          <a:xfrm>
            <a:off x="8670235" y="2511309"/>
            <a:ext cx="21451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2400" dirty="0" err="1">
                <a:latin typeface="Arial" panose="020B0604020202020204" pitchFamily="34" charset="0"/>
                <a:cs typeface="Arial" panose="020B0604020202020204" pitchFamily="34" charset="0"/>
              </a:rPr>
              <a:t>Muela</a:t>
            </a:r>
            <a:r>
              <a:rPr kumimoji="1" lang="en-US" altLang="zh-TW" sz="2400" dirty="0">
                <a:latin typeface="Arial" panose="020B0604020202020204" pitchFamily="34" charset="0"/>
                <a:cs typeface="Arial" panose="020B0604020202020204" pitchFamily="34" charset="0"/>
              </a:rPr>
              <a:t> B</a:t>
            </a:r>
          </a:p>
          <a:p>
            <a:pPr algn="ctr"/>
            <a:r>
              <a:rPr kumimoji="1" lang="en-US" altLang="zh-TW" sz="2400" dirty="0">
                <a:latin typeface="Arial" panose="020B0604020202020204" pitchFamily="34" charset="0"/>
                <a:cs typeface="Arial" panose="020B0604020202020204" pitchFamily="34" charset="0"/>
              </a:rPr>
              <a:t>p-value = 0.06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481FAF2-0963-CB54-97D3-5136C8BC4ED6}"/>
              </a:ext>
            </a:extLst>
          </p:cNvPr>
          <p:cNvSpPr txBox="1"/>
          <p:nvPr/>
        </p:nvSpPr>
        <p:spPr>
          <a:xfrm>
            <a:off x="396083" y="910817"/>
            <a:ext cx="11308237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Arial" panose="020B0604020202020204" pitchFamily="34" charset="0"/>
                <a:cs typeface="Arial" panose="020B0604020202020204" pitchFamily="34" charset="0"/>
              </a:rPr>
              <a:t>Overall, Control and Treatment Groups are not statistically different</a:t>
            </a:r>
          </a:p>
        </p:txBody>
      </p:sp>
    </p:spTree>
    <p:extLst>
      <p:ext uri="{BB962C8B-B14F-4D97-AF65-F5344CB8AC3E}">
        <p14:creationId xmlns:p14="http://schemas.microsoft.com/office/powerpoint/2010/main" val="4078673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7D16991-7E10-F1D4-B71D-8BDE845D3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BC98-7186-5941-AE11-0296001297DB}" type="slidenum">
              <a:rPr kumimoji="1" lang="zh-TW" altLang="en-US" smtClean="0"/>
              <a:t>15</a:t>
            </a:fld>
            <a:endParaRPr kumimoji="1"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A0252F9-27D5-7FD8-5387-D7A28F69C6F1}"/>
              </a:ext>
            </a:extLst>
          </p:cNvPr>
          <p:cNvSpPr txBox="1"/>
          <p:nvPr/>
        </p:nvSpPr>
        <p:spPr>
          <a:xfrm>
            <a:off x="396083" y="326042"/>
            <a:ext cx="24625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 analyses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B72A9CD-DBCA-CC8B-AF78-FA915F606E06}"/>
              </a:ext>
            </a:extLst>
          </p:cNvPr>
          <p:cNvSpPr txBox="1"/>
          <p:nvPr/>
        </p:nvSpPr>
        <p:spPr>
          <a:xfrm>
            <a:off x="396083" y="910817"/>
            <a:ext cx="11308237" cy="3901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 used ASV-based analysis, which is the same as OTU-based analysis, but at a different taxonomic scale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Arial" panose="020B0604020202020204" pitchFamily="34" charset="0"/>
                <a:cs typeface="Arial" panose="020B0604020202020204" pitchFamily="34" charset="0"/>
              </a:rPr>
              <a:t>My laptop does not perform well in traditional approach, which uses </a:t>
            </a:r>
            <a:r>
              <a:rPr kumimoji="1" lang="en-US" altLang="zh-TW" sz="2400" dirty="0" err="1">
                <a:latin typeface="Arial" panose="020B0604020202020204" pitchFamily="34" charset="0"/>
                <a:cs typeface="Arial" panose="020B0604020202020204" pitchFamily="34" charset="0"/>
              </a:rPr>
              <a:t>dist.seqs</a:t>
            </a:r>
            <a:r>
              <a:rPr kumimoji="1" lang="en-US" altLang="zh-TW" sz="2400" dirty="0">
                <a:latin typeface="Arial" panose="020B0604020202020204" pitchFamily="34" charset="0"/>
                <a:cs typeface="Arial" panose="020B0604020202020204" pitchFamily="34" charset="0"/>
              </a:rPr>
              <a:t> and cluster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Arial" panose="020B0604020202020204" pitchFamily="34" charset="0"/>
                <a:cs typeface="Arial" panose="020B0604020202020204" pitchFamily="34" charset="0"/>
              </a:rPr>
              <a:t>All the Figures can be improved in its arrangement, legend, and resolution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Arial" panose="020B0604020202020204" pitchFamily="34" charset="0"/>
                <a:cs typeface="Arial" panose="020B0604020202020204" pitchFamily="34" charset="0"/>
              </a:rPr>
              <a:t>Are these the things you expected?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Arial" panose="020B0604020202020204" pitchFamily="34" charset="0"/>
                <a:cs typeface="Arial" panose="020B0604020202020204" pitchFamily="34" charset="0"/>
              </a:rPr>
              <a:t>Error rate</a:t>
            </a:r>
          </a:p>
        </p:txBody>
      </p:sp>
    </p:spTree>
    <p:extLst>
      <p:ext uri="{BB962C8B-B14F-4D97-AF65-F5344CB8AC3E}">
        <p14:creationId xmlns:p14="http://schemas.microsoft.com/office/powerpoint/2010/main" val="230633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385</Words>
  <Application>Microsoft Macintosh PowerPoint</Application>
  <PresentationFormat>寬螢幕</PresentationFormat>
  <Paragraphs>96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Shih-Chieh Chien</dc:creator>
  <cp:lastModifiedBy>Shih-Chieh Chien</cp:lastModifiedBy>
  <cp:revision>9</cp:revision>
  <dcterms:created xsi:type="dcterms:W3CDTF">2023-09-24T03:08:32Z</dcterms:created>
  <dcterms:modified xsi:type="dcterms:W3CDTF">2023-10-05T22:56:14Z</dcterms:modified>
</cp:coreProperties>
</file>